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answers a single, concrete question every adaptive tutor must solve: given where a learner is right now, which concept should they study next? We treat that decision as sequential — each choice changes the learner's state — and learn a policy with reinforcement learning, then let an instructor steer the final pick with transparent criteria weights. The whole system is reproducible (fixed seed 42) and ships as an 8-page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requirement is a recommender that is adaptive, sequential and explainable. That rules out a static rules engine and a black-box classifier. It calls for a state-based decision model (MDP), a method that improves a policy from experience (Q-learning), a principled way to explore early (epsilon-greedy), and a transparent override layer (MCDM). We deliberately constrained ourselves to exactly these four RDMU techniques.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any learning platform, fixed linear curricula ignore that learners differ. Mis-sequencing causes two failure modes: prerequisites violated (frustration, drop-off) and difficulty mismatch (disengagement). The cost is measurable — lower completion and weaker mastery. Our system personalises the order of learning to each student's state, aiming to reach the objective efficiently and at an appropriate difficulty, with the instructor in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flows one direction with clean separation. A synthetic, internally-consistent dataset of 2,200 students calibrates the environment's transition probabilities and supplies profiles. The Q-learning agent trains online against the simulated environment — never directly on the CSV — and the learned Q-table is pickled. At inference the dashboard loads it (cached), ranks valid next concepts, hands the top-k to MCDM, and shows both rankings.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MDP: state is (current concept, mastery band, study-time band); action is the next concept restricted to valid candidates; reward blends mastery gain, difficulty suitability, preference match, time efficiency and progress. B — epsilon-greedy with epsilon decaying from 1.0 to a 0.1 floor. C — a 288×24 Q-table updated by the TD rule across 5,000 episodes. D — weighted scoring over five tunable criteria re-ranks the RL shortlist; the winner is the final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generate 2,200 students with seed 42 so anyone can reproduce the exact dataset. The 16 columns span demographics, assessment scores, study habits, preferences and a prerequisite-valid concept triple from a topological order of the 24-concept DAG. The generative model is internally consistent: more weekly study hours yield higher mastery growth (verified terciles 0.34 / 0.47 / 0.70), and scores track mastery. It calibrates the environment and drives analytics; the agent never trains on it directly.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shared fact has one home. The 24-concept catalogue lives only in utils/concepts.py; graph, dataset and environment import it, so there's no drift. Configuration is centralised in utils/config.py. RL holds the environment, agent and trainer; MCDM is isolated; visualizations are pure functions returning Plotly figures; the app composes them with cache_resource for the model and cache_data for the data. Pre-training is a script, so the app loads instantly and never retrains on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walks from context to decision to evaluation. Overview frames the problem and the four concepts; Student Profile and the interactive Concept Graph give context; the Recommendation page is the heart — RL ranking and MCDM re-ranking side by side, plus the final pick; RL Policy exposes training internals (reward curve, epsilon decay, explore/exploit, policy stability, Q-value heatmap) and a retrain control; Mastery Analytics and MCDM Settings probe data and steer weights live; Performance Metrics closes with the KPI set. The visual language follows the Linear design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 — measured with precisely-defined metrics, not a vague accuracy. Mean episodic reward rose from 2.36 (early, exploratory) to 9.82 (converged) — a clear learning curve produced by a deliberately tight 22-step budget that forces efficiency. The greedy policy reaches the objective on 97.3% of paths, and 98.6% of states have a stable greedy action across the last checkpoints. Recommendation Accuracy — our stated RL-vs-MCDM agreement proxy — is 48%, the point being that MCDM genuinely re-ranks about half the time, so the instructor's weights matter. Mastery rate is a balanced 52%.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delivered a reproducible, examination-grade prototype that uses exactly the four RDMU techniques to make an explainable, adaptive next-concept recommendation, end to end and fully runnable. The design keeps RL and human judgement (MCDM weights) cleanly separated and visible. Future scope: replace the tabular Q-table with function approximation to scale; calibrate on real learner telemetry; add A/B evaluation against a fixed-curriculum baseline; and extend MCDM to richer criteria. None of these change the core RDMU framing — they deepen each layer.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Rounded Rectangle 1"/>
          <p:cNvSpPr/>
          <p:nvPr/>
        </p:nvSpPr>
        <p:spPr>
          <a:xfrm>
            <a:off x="685800" y="2300000"/>
            <a:ext cx="520000" cy="520000"/>
          </a:xfrm>
          <a:prstGeom prst="roundRect">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50000"/>
            <a:ext cx="9000000" cy="360000"/>
          </a:xfrm>
          <a:prstGeom prst="rect">
            <a:avLst/>
          </a:prstGeom>
          <a:noFill/>
        </p:spPr>
        <p:txBody>
          <a:bodyPr wrap="square" anchor="t">
            <a:spAutoFit/>
          </a:bodyPr>
          <a:lstStyle/>
          <a:p>
            <a:r>
              <a:rPr sz="1200" b="1" i="0" spc="40">
                <a:solidFill>
                  <a:srgbClr val="828FFF"/>
                </a:solidFill>
                <a:latin typeface="Segoe UI"/>
              </a:rPr>
              <a:t>RDMU · REINFORCEMENT LEARNING</a:t>
            </a:r>
          </a:p>
        </p:txBody>
      </p:sp>
      <p:sp>
        <p:nvSpPr>
          <p:cNvPr id="4" name="TextBox 3"/>
          <p:cNvSpPr txBox="1"/>
          <p:nvPr/>
        </p:nvSpPr>
        <p:spPr>
          <a:xfrm>
            <a:off x="685800" y="3350000"/>
            <a:ext cx="10800000" cy="1700000"/>
          </a:xfrm>
          <a:prstGeom prst="rect">
            <a:avLst/>
          </a:prstGeom>
          <a:noFill/>
        </p:spPr>
        <p:txBody>
          <a:bodyPr wrap="square" anchor="t">
            <a:spAutoFit/>
          </a:bodyPr>
          <a:lstStyle/>
          <a:p>
            <a:r>
              <a:rPr sz="5400" b="1" i="0" spc="-200">
                <a:solidFill>
                  <a:srgbClr val="F7F8F8"/>
                </a:solidFill>
                <a:latin typeface="Segoe UI"/>
              </a:rPr>
              <a:t>Personalized Learning Path</a:t>
            </a:r>
          </a:p>
          <a:p>
            <a:r>
              <a:rPr sz="5400" b="1" i="0" spc="-200">
                <a:solidFill>
                  <a:srgbClr val="F7F8F8"/>
                </a:solidFill>
                <a:latin typeface="Segoe UI"/>
              </a:rPr>
              <a:t>Recommender using Reinforcement Learning</a:t>
            </a:r>
          </a:p>
        </p:txBody>
      </p:sp>
      <p:sp>
        <p:nvSpPr>
          <p:cNvPr id="5" name="TextBox 4"/>
          <p:cNvSpPr txBox="1"/>
          <p:nvPr/>
        </p:nvSpPr>
        <p:spPr>
          <a:xfrm>
            <a:off x="685800" y="5050000"/>
            <a:ext cx="10800000" cy="700000"/>
          </a:xfrm>
          <a:prstGeom prst="rect">
            <a:avLst/>
          </a:prstGeom>
          <a:noFill/>
        </p:spPr>
        <p:txBody>
          <a:bodyPr wrap="square" anchor="t">
            <a:spAutoFit/>
          </a:bodyPr>
          <a:lstStyle/>
          <a:p>
            <a:r>
              <a:rPr sz="1800" b="0" i="0">
                <a:solidFill>
                  <a:srgbClr val="8A8F98"/>
                </a:solidFill>
                <a:latin typeface="Segoe UI"/>
              </a:rPr>
              <a:t>MDP  ·  Q-Learning  ·  Exploration vs Exploitation  ·  Multi-Criteria Decision Making</a:t>
            </a:r>
          </a:p>
        </p:txBody>
      </p:sp>
      <p:sp>
        <p:nvSpPr>
          <p:cNvPr id="6" name="Rounded Rectangle 5"/>
          <p:cNvSpPr/>
          <p:nvPr/>
        </p:nvSpPr>
        <p:spPr>
          <a:xfrm>
            <a:off x="685800" y="5750000"/>
            <a:ext cx="1900000" cy="56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40000" rIns="120000"/>
          <a:lstStyle/>
          <a:p>
            <a:pPr algn="ctr"/>
            <a:r>
              <a:rPr sz="1250" b="1" i="0">
                <a:solidFill>
                  <a:srgbClr val="F7F8F8"/>
                </a:solidFill>
                <a:latin typeface="Segoe UI"/>
              </a:rPr>
              <a:t>State</a:t>
            </a:r>
          </a:p>
        </p:txBody>
      </p:sp>
      <p:sp>
        <p:nvSpPr>
          <p:cNvPr id="7" name="Right Arrow 6"/>
          <p:cNvSpPr/>
          <p:nvPr/>
        </p:nvSpPr>
        <p:spPr>
          <a:xfrm>
            <a:off x="2625800" y="5850000"/>
            <a:ext cx="420000" cy="360000"/>
          </a:xfrm>
          <a:prstGeom prst="rightArrow">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085800" y="5750000"/>
            <a:ext cx="1900000" cy="56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40000" rIns="120000"/>
          <a:lstStyle/>
          <a:p>
            <a:pPr algn="ctr"/>
            <a:r>
              <a:rPr sz="1250" b="1" i="0">
                <a:solidFill>
                  <a:srgbClr val="F7F8F8"/>
                </a:solidFill>
                <a:latin typeface="Segoe UI"/>
              </a:rPr>
              <a:t>Q-values</a:t>
            </a:r>
          </a:p>
        </p:txBody>
      </p:sp>
      <p:sp>
        <p:nvSpPr>
          <p:cNvPr id="9" name="Right Arrow 8"/>
          <p:cNvSpPr/>
          <p:nvPr/>
        </p:nvSpPr>
        <p:spPr>
          <a:xfrm>
            <a:off x="5025800" y="5850000"/>
            <a:ext cx="420000" cy="360000"/>
          </a:xfrm>
          <a:prstGeom prst="rightArrow">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5800" y="5750000"/>
            <a:ext cx="1900000" cy="56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40000" rIns="120000"/>
          <a:lstStyle/>
          <a:p>
            <a:pPr algn="ctr"/>
            <a:r>
              <a:rPr sz="1250" b="1" i="0">
                <a:solidFill>
                  <a:srgbClr val="F7F8F8"/>
                </a:solidFill>
                <a:latin typeface="Segoe UI"/>
              </a:rPr>
              <a:t>Top-k</a:t>
            </a:r>
          </a:p>
        </p:txBody>
      </p:sp>
      <p:sp>
        <p:nvSpPr>
          <p:cNvPr id="11" name="Right Arrow 10"/>
          <p:cNvSpPr/>
          <p:nvPr/>
        </p:nvSpPr>
        <p:spPr>
          <a:xfrm>
            <a:off x="7425800" y="5850000"/>
            <a:ext cx="420000" cy="360000"/>
          </a:xfrm>
          <a:prstGeom prst="rightArrow">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85800" y="5750000"/>
            <a:ext cx="1900000" cy="56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40000" rIns="120000"/>
          <a:lstStyle/>
          <a:p>
            <a:pPr algn="ctr"/>
            <a:r>
              <a:rPr sz="1250" b="1" i="0">
                <a:solidFill>
                  <a:srgbClr val="F7F8F8"/>
                </a:solidFill>
                <a:latin typeface="Segoe UI"/>
              </a:rPr>
              <a:t>MCDM</a:t>
            </a:r>
          </a:p>
        </p:txBody>
      </p:sp>
      <p:sp>
        <p:nvSpPr>
          <p:cNvPr id="13" name="Right Arrow 12"/>
          <p:cNvSpPr/>
          <p:nvPr/>
        </p:nvSpPr>
        <p:spPr>
          <a:xfrm>
            <a:off x="9825800" y="5850000"/>
            <a:ext cx="420000" cy="360000"/>
          </a:xfrm>
          <a:prstGeom prst="rightArrow">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285800" y="5750000"/>
            <a:ext cx="1900000" cy="560000"/>
          </a:xfrm>
          <a:prstGeom prst="roundRect">
            <a:avLst/>
          </a:prstGeom>
          <a:solidFill>
            <a:srgbClr val="5E6AD2"/>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40000" rIns="120000"/>
          <a:lstStyle/>
          <a:p>
            <a:pPr algn="ctr"/>
            <a:r>
              <a:rPr sz="1250" b="1" i="0">
                <a:solidFill>
                  <a:srgbClr val="FFFFFF"/>
                </a:solidFill>
                <a:latin typeface="Segoe UI"/>
              </a:rPr>
              <a:t>Next concept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REQUIREMENT UNDERSTANDING</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What the system must do</a:t>
            </a:r>
          </a:p>
        </p:txBody>
      </p:sp>
      <p:sp>
        <p:nvSpPr>
          <p:cNvPr id="4" name="Rounded Rectangle 3"/>
          <p:cNvSpPr/>
          <p:nvPr/>
        </p:nvSpPr>
        <p:spPr>
          <a:xfrm>
            <a:off x="685800" y="2150000"/>
            <a:ext cx="3500000" cy="24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20000" tIns="220000" rIns="200000"/>
          <a:lstStyle/>
          <a:p>
            <a:pPr algn="ctr"/>
            <a:r>
              <a:rPr sz="2200" b="1" i="0" spc="-40">
                <a:solidFill>
                  <a:srgbClr val="F7F8F8"/>
                </a:solidFill>
                <a:latin typeface="Segoe UI"/>
              </a:rPr>
              <a:t>Adaptive</a:t>
            </a:r>
          </a:p>
          <a:p>
            <a:pPr>
              <a:spcBef>
                <a:spcPts val="1000"/>
              </a:spcBef>
            </a:pPr>
            <a:r>
              <a:rPr sz="1400" b="0" i="0">
                <a:solidFill>
                  <a:srgbClr val="D0D6E0"/>
                </a:solidFill>
                <a:latin typeface="Segoe UI"/>
              </a:rPr>
              <a:t>Responds to the individual learner's state — prior knowledge, study time, difficulty tolerance, interest.</a:t>
            </a:r>
          </a:p>
        </p:txBody>
      </p:sp>
      <p:sp>
        <p:nvSpPr>
          <p:cNvPr id="5" name="Rounded Rectangle 4"/>
          <p:cNvSpPr/>
          <p:nvPr/>
        </p:nvSpPr>
        <p:spPr>
          <a:xfrm>
            <a:off x="4515800" y="2150000"/>
            <a:ext cx="3500000" cy="24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20000" tIns="220000" rIns="200000"/>
          <a:lstStyle/>
          <a:p>
            <a:pPr algn="ctr"/>
            <a:r>
              <a:rPr sz="2200" b="1" i="0" spc="-40">
                <a:solidFill>
                  <a:srgbClr val="F7F8F8"/>
                </a:solidFill>
                <a:latin typeface="Segoe UI"/>
              </a:rPr>
              <a:t>Sequential</a:t>
            </a:r>
          </a:p>
          <a:p>
            <a:pPr>
              <a:spcBef>
                <a:spcPts val="1000"/>
              </a:spcBef>
            </a:pPr>
            <a:r>
              <a:rPr sz="1400" b="0" i="0">
                <a:solidFill>
                  <a:srgbClr val="D0D6E0"/>
                </a:solidFill>
                <a:latin typeface="Segoe UI"/>
              </a:rPr>
              <a:t>Optimises a whole learning path, not a one-off pick — each choice changes what comes next.</a:t>
            </a:r>
          </a:p>
        </p:txBody>
      </p:sp>
      <p:sp>
        <p:nvSpPr>
          <p:cNvPr id="6" name="Rounded Rectangle 5"/>
          <p:cNvSpPr/>
          <p:nvPr/>
        </p:nvSpPr>
        <p:spPr>
          <a:xfrm>
            <a:off x="8345800" y="2150000"/>
            <a:ext cx="3500000" cy="24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20000" tIns="220000" rIns="200000"/>
          <a:lstStyle/>
          <a:p>
            <a:pPr algn="ctr"/>
            <a:r>
              <a:rPr sz="2200" b="1" i="0" spc="-40">
                <a:solidFill>
                  <a:srgbClr val="F7F8F8"/>
                </a:solidFill>
                <a:latin typeface="Segoe UI"/>
              </a:rPr>
              <a:t>Explainable</a:t>
            </a:r>
          </a:p>
          <a:p>
            <a:pPr>
              <a:spcBef>
                <a:spcPts val="1000"/>
              </a:spcBef>
            </a:pPr>
            <a:r>
              <a:rPr sz="1400" b="0" i="0">
                <a:solidFill>
                  <a:srgbClr val="D0D6E0"/>
                </a:solidFill>
                <a:latin typeface="Segoe UI"/>
              </a:rPr>
              <a:t>An instructor can see and adjust why a concept was chosen, via interpretable criteria weights.</a:t>
            </a:r>
          </a:p>
        </p:txBody>
      </p:sp>
      <p:sp>
        <p:nvSpPr>
          <p:cNvPr id="7" name="TextBox 6"/>
          <p:cNvSpPr txBox="1"/>
          <p:nvPr/>
        </p:nvSpPr>
        <p:spPr>
          <a:xfrm>
            <a:off x="685800" y="4850000"/>
            <a:ext cx="10800000" cy="900000"/>
          </a:xfrm>
          <a:prstGeom prst="rect">
            <a:avLst/>
          </a:prstGeom>
          <a:noFill/>
        </p:spPr>
        <p:txBody>
          <a:bodyPr wrap="square" anchor="t">
            <a:spAutoFit/>
          </a:bodyPr>
          <a:lstStyle/>
          <a:p>
            <a:r>
              <a:rPr sz="1500" b="0" i="1">
                <a:solidFill>
                  <a:srgbClr val="8A8F98"/>
                </a:solidFill>
                <a:latin typeface="Segoe UI"/>
              </a:rPr>
              <a:t>Satisfied by exactly four RDMU techniques: MDP, epsilon-greedy, tabular Q-Learning, and MCDM weighted scoring.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BUSINESS PROBLEM</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Why next-concept sequencing matters</a:t>
            </a:r>
          </a:p>
        </p:txBody>
      </p:sp>
      <p:sp>
        <p:nvSpPr>
          <p:cNvPr id="4" name="TextBox 3"/>
          <p:cNvSpPr txBox="1"/>
          <p:nvPr/>
        </p:nvSpPr>
        <p:spPr>
          <a:xfrm>
            <a:off x="685800" y="2100000"/>
            <a:ext cx="10800000" cy="2600000"/>
          </a:xfrm>
          <a:prstGeom prst="rect">
            <a:avLst/>
          </a:prstGeom>
          <a:noFill/>
        </p:spPr>
        <p:txBody>
          <a:bodyPr wrap="square" anchor="t">
            <a:spAutoFit/>
          </a:bodyPr>
          <a:lstStyle/>
          <a:p>
            <a:pPr>
              <a:spcAft>
                <a:spcPts val="1200"/>
              </a:spcAft>
            </a:pPr>
            <a:r>
              <a:rPr sz="1600" b="1" i="0">
                <a:solidFill>
                  <a:srgbClr val="828FFF"/>
                </a:solidFill>
                <a:latin typeface="Segoe UI"/>
              </a:rPr>
              <a:t>Fixed curricula ignore the learner.  </a:t>
            </a:r>
            <a:r>
              <a:rPr sz="1600" b="0" i="0">
                <a:solidFill>
                  <a:srgbClr val="D0D6E0"/>
                </a:solidFill>
                <a:latin typeface="Segoe UI"/>
              </a:rPr>
              <a:t>Students differ in prior knowledge, study time, difficulty tolerance and interest.</a:t>
            </a:r>
          </a:p>
          <a:p>
            <a:pPr>
              <a:spcAft>
                <a:spcPts val="1200"/>
              </a:spcAft>
            </a:pPr>
            <a:r>
              <a:rPr sz="1600" b="1" i="0">
                <a:solidFill>
                  <a:srgbClr val="828FFF"/>
                </a:solidFill>
                <a:latin typeface="Segoe UI"/>
              </a:rPr>
              <a:t>Two failure modes.  </a:t>
            </a:r>
            <a:r>
              <a:rPr sz="1600" b="0" i="0">
                <a:solidFill>
                  <a:srgbClr val="D0D6E0"/>
                </a:solidFill>
                <a:latin typeface="Segoe UI"/>
              </a:rPr>
              <a:t>Concepts taught before their prerequisites cause frustration and drop-off; concepts too easy or too hard cause disengagement.</a:t>
            </a:r>
          </a:p>
          <a:p>
            <a:pPr>
              <a:spcAft>
                <a:spcPts val="1200"/>
              </a:spcAft>
            </a:pPr>
            <a:r>
              <a:rPr sz="1600" b="1" i="0">
                <a:solidFill>
                  <a:srgbClr val="828FFF"/>
                </a:solidFill>
                <a:latin typeface="Segoe UI"/>
              </a:rPr>
              <a:t>Measurable cost.  </a:t>
            </a:r>
            <a:r>
              <a:rPr sz="1600" b="0" i="0">
                <a:solidFill>
                  <a:srgbClr val="D0D6E0"/>
                </a:solidFill>
                <a:latin typeface="Segoe UI"/>
              </a:rPr>
              <a:t>Both lower course completion and weaken mastery.</a:t>
            </a:r>
          </a:p>
          <a:p>
            <a:pPr>
              <a:spcAft>
                <a:spcPts val="1200"/>
              </a:spcAft>
            </a:pPr>
            <a:r>
              <a:rPr sz="1600" b="1" i="0">
                <a:solidFill>
                  <a:srgbClr val="828FFF"/>
                </a:solidFill>
                <a:latin typeface="Segoe UI"/>
              </a:rPr>
              <a:t>Our goal.  </a:t>
            </a:r>
            <a:r>
              <a:rPr sz="1600" b="0" i="0">
                <a:solidFill>
                  <a:srgbClr val="D0D6E0"/>
                </a:solidFill>
                <a:latin typeface="Segoe UI"/>
              </a:rPr>
              <a:t>Personalise the ORDER of learning to each student's state — reaching the objective (Deep Learning) efficiently and at an appropriate difficulty, with the instructor in control via MCDM weights.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APPLICATION FLOW CHART</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End-to-end application flow</a:t>
            </a:r>
          </a:p>
        </p:txBody>
      </p:sp>
      <p:sp>
        <p:nvSpPr>
          <p:cNvPr id="4" name="Rounded Rectangle 3"/>
          <p:cNvSpPr/>
          <p:nvPr/>
        </p:nvSpPr>
        <p:spPr>
          <a:xfrm>
            <a:off x="685800" y="2300000"/>
            <a:ext cx="2550000" cy="19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tIns="170000"/>
          <a:lstStyle/>
          <a:p>
            <a:pPr algn="ctr"/>
            <a:r>
              <a:rPr sz="1500" b="1" i="0">
                <a:solidFill>
                  <a:srgbClr val="828FFF"/>
                </a:solidFill>
                <a:latin typeface="Segoe UI"/>
              </a:rPr>
              <a:t>1 · Data</a:t>
            </a:r>
          </a:p>
          <a:p>
            <a:pPr>
              <a:spcBef>
                <a:spcPts val="800"/>
              </a:spcBef>
            </a:pPr>
            <a:r>
              <a:rPr sz="1300" b="0" i="0">
                <a:solidFill>
                  <a:srgbClr val="D0D6E0"/>
                </a:solidFill>
                <a:latin typeface="Segoe UI"/>
              </a:rPr>
              <a:t>data_gen → students.csv
2,200 students, seed 42</a:t>
            </a:r>
          </a:p>
        </p:txBody>
      </p:sp>
      <p:sp>
        <p:nvSpPr>
          <p:cNvPr id="5" name="Right Arrow 4"/>
          <p:cNvSpPr/>
          <p:nvPr/>
        </p:nvSpPr>
        <p:spPr>
          <a:xfrm>
            <a:off x="3265800" y="3050000"/>
            <a:ext cx="420000" cy="360000"/>
          </a:xfrm>
          <a:prstGeom prst="rightArrow">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65800" y="2300000"/>
            <a:ext cx="2550000" cy="19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tIns="170000"/>
          <a:lstStyle/>
          <a:p>
            <a:pPr algn="ctr"/>
            <a:r>
              <a:rPr sz="1500" b="1" i="0">
                <a:solidFill>
                  <a:srgbClr val="828FFF"/>
                </a:solidFill>
                <a:latin typeface="Segoe UI"/>
              </a:rPr>
              <a:t>2 · Calibrate + Train</a:t>
            </a:r>
          </a:p>
          <a:p>
            <a:pPr>
              <a:spcBef>
                <a:spcPts val="800"/>
              </a:spcBef>
            </a:pPr>
            <a:r>
              <a:rPr sz="1300" b="0" i="0">
                <a:solidFill>
                  <a:srgbClr val="D0D6E0"/>
                </a:solidFill>
                <a:latin typeface="Segoe UI"/>
              </a:rPr>
              <a:t>env calibrated from CSV;
Q-learning trains online
→ q_table.pkl</a:t>
            </a:r>
          </a:p>
        </p:txBody>
      </p:sp>
      <p:sp>
        <p:nvSpPr>
          <p:cNvPr id="7" name="Right Arrow 6"/>
          <p:cNvSpPr/>
          <p:nvPr/>
        </p:nvSpPr>
        <p:spPr>
          <a:xfrm>
            <a:off x="6245800" y="3050000"/>
            <a:ext cx="420000" cy="360000"/>
          </a:xfrm>
          <a:prstGeom prst="rightArrow">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45800" y="2300000"/>
            <a:ext cx="2550000" cy="19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tIns="170000"/>
          <a:lstStyle/>
          <a:p>
            <a:pPr algn="ctr"/>
            <a:r>
              <a:rPr sz="1500" b="1" i="0">
                <a:solidFill>
                  <a:srgbClr val="828FFF"/>
                </a:solidFill>
                <a:latin typeface="Segoe UI"/>
              </a:rPr>
              <a:t>3 · Serve</a:t>
            </a:r>
          </a:p>
          <a:p>
            <a:pPr>
              <a:spcBef>
                <a:spcPts val="800"/>
              </a:spcBef>
            </a:pPr>
            <a:r>
              <a:rPr sz="1300" b="0" i="0">
                <a:solidFill>
                  <a:srgbClr val="D0D6E0"/>
                </a:solidFill>
                <a:latin typeface="Segoe UI"/>
              </a:rPr>
              <a:t>app loads cached Q-table
→ RL rank → top-k</a:t>
            </a:r>
          </a:p>
        </p:txBody>
      </p:sp>
      <p:sp>
        <p:nvSpPr>
          <p:cNvPr id="9" name="Right Arrow 8"/>
          <p:cNvSpPr/>
          <p:nvPr/>
        </p:nvSpPr>
        <p:spPr>
          <a:xfrm>
            <a:off x="9225800" y="3050000"/>
            <a:ext cx="420000" cy="360000"/>
          </a:xfrm>
          <a:prstGeom prst="rightArrow">
            <a:avLst/>
          </a:prstGeom>
          <a:solidFill>
            <a:srgbClr val="5E6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25800" y="2300000"/>
            <a:ext cx="2550000" cy="19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tIns="170000"/>
          <a:lstStyle/>
          <a:p>
            <a:pPr algn="ctr"/>
            <a:r>
              <a:rPr sz="1500" b="1" i="0">
                <a:solidFill>
                  <a:srgbClr val="828FFF"/>
                </a:solidFill>
                <a:latin typeface="Segoe UI"/>
              </a:rPr>
              <a:t>4 · Decide</a:t>
            </a:r>
          </a:p>
          <a:p>
            <a:pPr>
              <a:spcBef>
                <a:spcPts val="800"/>
              </a:spcBef>
            </a:pPr>
            <a:r>
              <a:rPr sz="1300" b="0" i="0">
                <a:solidFill>
                  <a:srgbClr val="D0D6E0"/>
                </a:solidFill>
                <a:latin typeface="Segoe UI"/>
              </a:rPr>
              <a:t>MCDM re-ranks shortlist
→ final recommendation</a:t>
            </a:r>
          </a:p>
        </p:txBody>
      </p:sp>
      <p:sp>
        <p:nvSpPr>
          <p:cNvPr id="11" name="TextBox 10"/>
          <p:cNvSpPr txBox="1"/>
          <p:nvPr/>
        </p:nvSpPr>
        <p:spPr>
          <a:xfrm>
            <a:off x="685800" y="4550000"/>
            <a:ext cx="10800000" cy="800000"/>
          </a:xfrm>
          <a:prstGeom prst="rect">
            <a:avLst/>
          </a:prstGeom>
          <a:noFill/>
        </p:spPr>
        <p:txBody>
          <a:bodyPr wrap="square" anchor="t">
            <a:spAutoFit/>
          </a:bodyPr>
          <a:lstStyle/>
          <a:p>
            <a:r>
              <a:rPr sz="1400" b="0" i="1">
                <a:solidFill>
                  <a:srgbClr val="8A8F98"/>
                </a:solidFill>
                <a:latin typeface="Segoe UI"/>
              </a:rPr>
              <a:t>Key separation: the agent trains against the simulated environment, never directly on the CSV. The dashboard never retrains on ordinary interaction.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SELECTED RDMU CONCEPTS</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The four concepts, made concrete</a:t>
            </a:r>
          </a:p>
        </p:txBody>
      </p:sp>
      <p:sp>
        <p:nvSpPr>
          <p:cNvPr id="4" name="Rounded Rectangle 3"/>
          <p:cNvSpPr/>
          <p:nvPr/>
        </p:nvSpPr>
        <p:spPr>
          <a:xfrm>
            <a:off x="685800" y="2100000"/>
            <a:ext cx="5050000" cy="18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60000" rIns="180000"/>
          <a:lstStyle/>
          <a:p>
            <a:pPr algn="ctr"/>
            <a:r>
              <a:rPr sz="1600" b="1" i="0" spc="-30">
                <a:solidFill>
                  <a:srgbClr val="F7F8F8"/>
                </a:solidFill>
                <a:latin typeface="Segoe UI"/>
              </a:rPr>
              <a:t>A · Markov Decision Process</a:t>
            </a:r>
          </a:p>
          <a:p>
            <a:pPr>
              <a:spcBef>
                <a:spcPts val="800"/>
              </a:spcBef>
            </a:pPr>
            <a:r>
              <a:rPr sz="1300" b="0" i="0">
                <a:solidFill>
                  <a:srgbClr val="D0D6E0"/>
                </a:solidFill>
                <a:latin typeface="Segoe UI"/>
              </a:rPr>
              <a:t>State = (concept, mastery band, study-time band). Action = next concept (prerequisite-valid). Reward = weighted blend of 5 signals.  rl/environment.py</a:t>
            </a:r>
          </a:p>
        </p:txBody>
      </p:sp>
      <p:sp>
        <p:nvSpPr>
          <p:cNvPr id="5" name="Rounded Rectangle 4"/>
          <p:cNvSpPr/>
          <p:nvPr/>
        </p:nvSpPr>
        <p:spPr>
          <a:xfrm>
            <a:off x="6450000" y="2100000"/>
            <a:ext cx="5050000" cy="18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60000" rIns="180000"/>
          <a:lstStyle/>
          <a:p>
            <a:pPr algn="ctr"/>
            <a:r>
              <a:rPr sz="1600" b="1" i="0" spc="-30">
                <a:solidFill>
                  <a:srgbClr val="F7F8F8"/>
                </a:solidFill>
                <a:latin typeface="Segoe UI"/>
              </a:rPr>
              <a:t>B · Exploration vs Exploitation</a:t>
            </a:r>
          </a:p>
          <a:p>
            <a:pPr>
              <a:spcBef>
                <a:spcPts val="800"/>
              </a:spcBef>
            </a:pPr>
            <a:r>
              <a:rPr sz="1300" b="0" i="0">
                <a:solidFill>
                  <a:srgbClr val="D0D6E0"/>
                </a:solidFill>
                <a:latin typeface="Segoe UI"/>
              </a:rPr>
              <a:t>Epsilon-greedy selection; epsilon decays 1.0 → 0.1 floor. Explore early, exploit late.  rl/q_learning.py</a:t>
            </a:r>
          </a:p>
        </p:txBody>
      </p:sp>
      <p:sp>
        <p:nvSpPr>
          <p:cNvPr id="6" name="Rounded Rectangle 5"/>
          <p:cNvSpPr/>
          <p:nvPr/>
        </p:nvSpPr>
        <p:spPr>
          <a:xfrm>
            <a:off x="685800" y="4150000"/>
            <a:ext cx="5050000" cy="18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60000" rIns="180000"/>
          <a:lstStyle/>
          <a:p>
            <a:pPr algn="ctr"/>
            <a:r>
              <a:rPr sz="1600" b="1" i="0" spc="-30">
                <a:solidFill>
                  <a:srgbClr val="F7F8F8"/>
                </a:solidFill>
                <a:latin typeface="Segoe UI"/>
              </a:rPr>
              <a:t>C · Tabular Q-Learning</a:t>
            </a:r>
          </a:p>
          <a:p>
            <a:pPr>
              <a:spcBef>
                <a:spcPts val="800"/>
              </a:spcBef>
            </a:pPr>
            <a:r>
              <a:rPr sz="1300" b="0" i="0">
                <a:solidFill>
                  <a:srgbClr val="D0D6E0"/>
                </a:solidFill>
                <a:latin typeface="Segoe UI"/>
              </a:rPr>
              <a:t>288×24 Q-table updated by temporal-difference learning over 5,000 simulated episodes.  rl/train.py</a:t>
            </a:r>
          </a:p>
        </p:txBody>
      </p:sp>
      <p:sp>
        <p:nvSpPr>
          <p:cNvPr id="7" name="Rounded Rectangle 6"/>
          <p:cNvSpPr/>
          <p:nvPr/>
        </p:nvSpPr>
        <p:spPr>
          <a:xfrm>
            <a:off x="6450000" y="4150000"/>
            <a:ext cx="5050000" cy="18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60000" rIns="180000"/>
          <a:lstStyle/>
          <a:p>
            <a:pPr algn="ctr"/>
            <a:r>
              <a:rPr sz="1600" b="1" i="0" spc="-30">
                <a:solidFill>
                  <a:srgbClr val="F7F8F8"/>
                </a:solidFill>
                <a:latin typeface="Segoe UI"/>
              </a:rPr>
              <a:t>D · Multi-Criteria Decision Making</a:t>
            </a:r>
          </a:p>
          <a:p>
            <a:pPr>
              <a:spcBef>
                <a:spcPts val="800"/>
              </a:spcBef>
            </a:pPr>
            <a:r>
              <a:rPr sz="1300" b="0" i="0">
                <a:solidFill>
                  <a:srgbClr val="D0D6E0"/>
                </a:solidFill>
                <a:latin typeface="Segoe UI"/>
              </a:rPr>
              <a:t>Weighted scoring over 5 instructor-tunable criteria re-ranks the RL shortlist; the winner is the final pick.  mcdm/scoring.py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DATASET DESCRIPTION</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Synthetic, consistent, reproducible</a:t>
            </a:r>
          </a:p>
        </p:txBody>
      </p:sp>
      <p:sp>
        <p:nvSpPr>
          <p:cNvPr id="4" name="TextBox 3"/>
          <p:cNvSpPr txBox="1"/>
          <p:nvPr/>
        </p:nvSpPr>
        <p:spPr>
          <a:xfrm>
            <a:off x="685800" y="2100000"/>
            <a:ext cx="6100000" cy="3200000"/>
          </a:xfrm>
          <a:prstGeom prst="rect">
            <a:avLst/>
          </a:prstGeom>
          <a:noFill/>
        </p:spPr>
        <p:txBody>
          <a:bodyPr wrap="square" anchor="t">
            <a:spAutoFit/>
          </a:bodyPr>
          <a:lstStyle/>
          <a:p>
            <a:pPr>
              <a:spcAft>
                <a:spcPts val="1100"/>
              </a:spcAft>
            </a:pPr>
            <a:r>
              <a:rPr sz="1500" b="1" i="0">
                <a:solidFill>
                  <a:srgbClr val="828FFF"/>
                </a:solidFill>
                <a:latin typeface="Segoe UI"/>
              </a:rPr>
              <a:t>2,200 students, seed 42.  </a:t>
            </a:r>
            <a:r>
              <a:rPr sz="1500" b="0" i="0">
                <a:solidFill>
                  <a:srgbClr val="D0D6E0"/>
                </a:solidFill>
                <a:latin typeface="Segoe UI"/>
              </a:rPr>
              <a:t>Fully reproducible generation.</a:t>
            </a:r>
          </a:p>
          <a:p>
            <a:pPr>
              <a:spcAft>
                <a:spcPts val="1100"/>
              </a:spcAft>
            </a:pPr>
            <a:r>
              <a:rPr sz="1500" b="1" i="0">
                <a:solidFill>
                  <a:srgbClr val="828FFF"/>
                </a:solidFill>
                <a:latin typeface="Segoe UI"/>
              </a:rPr>
              <a:t>16 columns.  </a:t>
            </a:r>
            <a:r>
              <a:rPr sz="1500" b="0" i="0">
                <a:solidFill>
                  <a:srgbClr val="D0D6E0"/>
                </a:solidFill>
                <a:latin typeface="Segoe UI"/>
              </a:rPr>
              <a:t>Demographics, assessment scores, study habits, preferences, and a prerequisite-valid completed→current→next concept triple.</a:t>
            </a:r>
          </a:p>
          <a:p>
            <a:pPr>
              <a:spcAft>
                <a:spcPts val="1100"/>
              </a:spcAft>
            </a:pPr>
            <a:r>
              <a:rPr sz="1500" b="1" i="0">
                <a:solidFill>
                  <a:srgbClr val="828FFF"/>
                </a:solidFill>
                <a:latin typeface="Segoe UI"/>
              </a:rPr>
              <a:t>Internally consistent.  </a:t>
            </a:r>
            <a:r>
              <a:rPr sz="1500" b="0" i="0">
                <a:solidFill>
                  <a:srgbClr val="D0D6E0"/>
                </a:solidFill>
                <a:latin typeface="Segoe UI"/>
              </a:rPr>
              <a:t>More study hours → higher mastery growth; quiz / assignment scores track current mastery.</a:t>
            </a:r>
          </a:p>
          <a:p>
            <a:pPr>
              <a:spcAft>
                <a:spcPts val="1100"/>
              </a:spcAft>
            </a:pPr>
            <a:r>
              <a:rPr sz="1500" b="1" i="0">
                <a:solidFill>
                  <a:srgbClr val="828FFF"/>
                </a:solidFill>
                <a:latin typeface="Segoe UI"/>
              </a:rPr>
              <a:t>Dual role.  </a:t>
            </a:r>
            <a:r>
              <a:rPr sz="1500" b="0" i="0">
                <a:solidFill>
                  <a:srgbClr val="D0D6E0"/>
                </a:solidFill>
                <a:latin typeface="Segoe UI"/>
              </a:rPr>
              <a:t>Calibrates the environment and drives analytics — the agent never trains on it directly.</a:t>
            </a:r>
          </a:p>
        </p:txBody>
      </p:sp>
      <p:sp>
        <p:nvSpPr>
          <p:cNvPr id="5" name="Rounded Rectangle 4"/>
          <p:cNvSpPr/>
          <p:nvPr/>
        </p:nvSpPr>
        <p:spPr>
          <a:xfrm>
            <a:off x="7050000" y="2100000"/>
            <a:ext cx="4450000" cy="29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20000" tIns="200000"/>
          <a:lstStyle/>
          <a:p>
            <a:pPr algn="ctr"/>
            <a:r>
              <a:rPr sz="1500" b="1" i="0">
                <a:solidFill>
                  <a:srgbClr val="828FFF"/>
                </a:solidFill>
                <a:latin typeface="Segoe UI"/>
              </a:rPr>
              <a:t>Verified consistency</a:t>
            </a:r>
          </a:p>
          <a:p>
            <a:pPr>
              <a:spcBef>
                <a:spcPts val="1200"/>
              </a:spcBef>
            </a:pPr>
            <a:r>
              <a:rPr sz="1300" b="0" i="0">
                <a:solidFill>
                  <a:srgbClr val="D0D6E0"/>
                </a:solidFill>
                <a:latin typeface="Segoe UI"/>
              </a:rPr>
              <a:t>Low study time</a:t>
            </a:r>
          </a:p>
          <a:p>
            <a:r>
              <a:rPr sz="1200" b="0" i="0">
                <a:solidFill>
                  <a:srgbClr val="5E6AD2"/>
                </a:solidFill>
                <a:latin typeface="Segoe UI"/>
              </a:rPr>
              <a:t>███████  0.34</a:t>
            </a:r>
          </a:p>
          <a:p>
            <a:pPr>
              <a:spcBef>
                <a:spcPts val="1200"/>
              </a:spcBef>
            </a:pPr>
            <a:r>
              <a:rPr sz="1300" b="0" i="0">
                <a:solidFill>
                  <a:srgbClr val="D0D6E0"/>
                </a:solidFill>
                <a:latin typeface="Segoe UI"/>
              </a:rPr>
              <a:t>Medium study time</a:t>
            </a:r>
          </a:p>
          <a:p>
            <a:r>
              <a:rPr sz="1200" b="0" i="0">
                <a:solidFill>
                  <a:srgbClr val="5E6AD2"/>
                </a:solidFill>
                <a:latin typeface="Segoe UI"/>
              </a:rPr>
              <a:t>██████████  0.47</a:t>
            </a:r>
          </a:p>
          <a:p>
            <a:pPr>
              <a:spcBef>
                <a:spcPts val="1200"/>
              </a:spcBef>
            </a:pPr>
            <a:r>
              <a:rPr sz="1300" b="0" i="0">
                <a:solidFill>
                  <a:srgbClr val="D0D6E0"/>
                </a:solidFill>
                <a:latin typeface="Segoe UI"/>
              </a:rPr>
              <a:t>High study time</a:t>
            </a:r>
          </a:p>
          <a:p>
            <a:r>
              <a:rPr sz="1200" b="0" i="0">
                <a:solidFill>
                  <a:srgbClr val="5E6AD2"/>
                </a:solidFill>
                <a:latin typeface="Segoe UI"/>
              </a:rPr>
              <a:t>███████████████  0.70</a:t>
            </a:r>
          </a:p>
          <a:p>
            <a:pPr>
              <a:spcBef>
                <a:spcPts val="1000"/>
              </a:spcBef>
            </a:pPr>
            <a:r>
              <a:rPr sz="1100" b="0" i="1">
                <a:solidFill>
                  <a:srgbClr val="8A8F98"/>
                </a:solidFill>
                <a:latin typeface="Segoe UI"/>
              </a:rPr>
              <a:t>Mean mastery growth by study-time tercile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SYSTEM ARCHITECTURE</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Modular, with a single source of truth</a:t>
            </a:r>
          </a:p>
        </p:txBody>
      </p:sp>
      <p:sp>
        <p:nvSpPr>
          <p:cNvPr id="4" name="Rounded Rectangle 3"/>
          <p:cNvSpPr/>
          <p:nvPr/>
        </p:nvSpPr>
        <p:spPr>
          <a:xfrm>
            <a:off x="685800" y="2100000"/>
            <a:ext cx="10800000" cy="62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lIns="220000"/>
          <a:lstStyle/>
          <a:p>
            <a:pPr algn="ctr"/>
            <a:r>
              <a:rPr sz="1400" b="1" i="0">
                <a:solidFill>
                  <a:srgbClr val="828FFF"/>
                </a:solidFill>
                <a:latin typeface="Segoe UI"/>
              </a:rPr>
              <a:t>utils/concepts.py    </a:t>
            </a:r>
            <a:r>
              <a:rPr sz="1300" b="0" i="0">
                <a:solidFill>
                  <a:srgbClr val="D0D6E0"/>
                </a:solidFill>
                <a:latin typeface="Segoe UI"/>
              </a:rPr>
              <a:t>Canonical 24-concept DAG — imported by graph, data, env</a:t>
            </a:r>
          </a:p>
        </p:txBody>
      </p:sp>
      <p:sp>
        <p:nvSpPr>
          <p:cNvPr id="5" name="Rounded Rectangle 4"/>
          <p:cNvSpPr/>
          <p:nvPr/>
        </p:nvSpPr>
        <p:spPr>
          <a:xfrm>
            <a:off x="685800" y="2820000"/>
            <a:ext cx="10800000" cy="62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lIns="220000"/>
          <a:lstStyle/>
          <a:p>
            <a:pPr algn="ctr"/>
            <a:r>
              <a:rPr sz="1400" b="1" i="0">
                <a:solidFill>
                  <a:srgbClr val="828FFF"/>
                </a:solidFill>
                <a:latin typeface="Segoe UI"/>
              </a:rPr>
              <a:t>utils/config.py    </a:t>
            </a:r>
            <a:r>
              <a:rPr sz="1300" b="0" i="0">
                <a:solidFill>
                  <a:srgbClr val="D0D6E0"/>
                </a:solidFill>
                <a:latin typeface="Segoe UI"/>
              </a:rPr>
              <a:t>Seed, band edges, reward &amp; MCDM weights, hyperparameters, theme</a:t>
            </a:r>
          </a:p>
        </p:txBody>
      </p:sp>
      <p:sp>
        <p:nvSpPr>
          <p:cNvPr id="6" name="Rounded Rectangle 5"/>
          <p:cNvSpPr/>
          <p:nvPr/>
        </p:nvSpPr>
        <p:spPr>
          <a:xfrm>
            <a:off x="685800" y="3540000"/>
            <a:ext cx="10800000" cy="62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lIns="220000"/>
          <a:lstStyle/>
          <a:p>
            <a:pPr algn="ctr"/>
            <a:r>
              <a:rPr sz="1400" b="1" i="0">
                <a:solidFill>
                  <a:srgbClr val="828FFF"/>
                </a:solidFill>
                <a:latin typeface="Segoe UI"/>
              </a:rPr>
              <a:t>rl/  (environment · q_learning · train)    </a:t>
            </a:r>
            <a:r>
              <a:rPr sz="1300" b="0" i="0">
                <a:solidFill>
                  <a:srgbClr val="D0D6E0"/>
                </a:solidFill>
                <a:latin typeface="Segoe UI"/>
              </a:rPr>
              <a:t>MDP, epsilon-greedy agent, pickled Q-table</a:t>
            </a:r>
          </a:p>
        </p:txBody>
      </p:sp>
      <p:sp>
        <p:nvSpPr>
          <p:cNvPr id="7" name="Rounded Rectangle 6"/>
          <p:cNvSpPr/>
          <p:nvPr/>
        </p:nvSpPr>
        <p:spPr>
          <a:xfrm>
            <a:off x="685800" y="4260000"/>
            <a:ext cx="10800000" cy="62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lIns="220000"/>
          <a:lstStyle/>
          <a:p>
            <a:pPr algn="ctr"/>
            <a:r>
              <a:rPr sz="1400" b="1" i="0">
                <a:solidFill>
                  <a:srgbClr val="828FFF"/>
                </a:solidFill>
                <a:latin typeface="Segoe UI"/>
              </a:rPr>
              <a:t>mcdm/scoring.py    </a:t>
            </a:r>
            <a:r>
              <a:rPr sz="1300" b="0" i="0">
                <a:solidFill>
                  <a:srgbClr val="D0D6E0"/>
                </a:solidFill>
                <a:latin typeface="Segoe UI"/>
              </a:rPr>
              <a:t>Weighted-scoring re-ranker (isolated)</a:t>
            </a:r>
          </a:p>
        </p:txBody>
      </p:sp>
      <p:sp>
        <p:nvSpPr>
          <p:cNvPr id="8" name="Rounded Rectangle 7"/>
          <p:cNvSpPr/>
          <p:nvPr/>
        </p:nvSpPr>
        <p:spPr>
          <a:xfrm>
            <a:off x="685800" y="4980000"/>
            <a:ext cx="10800000" cy="62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lIns="220000"/>
          <a:lstStyle/>
          <a:p>
            <a:pPr algn="ctr"/>
            <a:r>
              <a:rPr sz="1400" b="1" i="0">
                <a:solidFill>
                  <a:srgbClr val="828FFF"/>
                </a:solidFill>
                <a:latin typeface="Segoe UI"/>
              </a:rPr>
              <a:t>visualizations/charts.py    </a:t>
            </a:r>
            <a:r>
              <a:rPr sz="1300" b="0" i="0">
                <a:solidFill>
                  <a:srgbClr val="D0D6E0"/>
                </a:solidFill>
                <a:latin typeface="Segoe UI"/>
              </a:rPr>
              <a:t>Pure Plotly figure builders</a:t>
            </a:r>
          </a:p>
        </p:txBody>
      </p:sp>
      <p:sp>
        <p:nvSpPr>
          <p:cNvPr id="9" name="Rounded Rectangle 8"/>
          <p:cNvSpPr/>
          <p:nvPr/>
        </p:nvSpPr>
        <p:spPr>
          <a:xfrm>
            <a:off x="685800" y="5700000"/>
            <a:ext cx="10800000" cy="62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lIns="220000"/>
          <a:lstStyle/>
          <a:p>
            <a:pPr algn="ctr"/>
            <a:r>
              <a:rPr sz="1400" b="1" i="0">
                <a:solidFill>
                  <a:srgbClr val="828FFF"/>
                </a:solidFill>
                <a:latin typeface="Segoe UI"/>
              </a:rPr>
              <a:t>app.py    </a:t>
            </a:r>
            <a:r>
              <a:rPr sz="1300" b="0" i="0">
                <a:solidFill>
                  <a:srgbClr val="D0D6E0"/>
                </a:solidFill>
                <a:latin typeface="Segoe UI"/>
              </a:rPr>
              <a:t>8-page Streamlit shell — cache_resource (model) + cache_data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DASHBOARD SCREENS</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Eight pages, one decision story</a:t>
            </a:r>
          </a:p>
        </p:txBody>
      </p:sp>
      <p:sp>
        <p:nvSpPr>
          <p:cNvPr id="4" name="Rounded Rectangle 3"/>
          <p:cNvSpPr/>
          <p:nvPr/>
        </p:nvSpPr>
        <p:spPr>
          <a:xfrm>
            <a:off x="685800" y="2150000"/>
            <a:ext cx="2550000" cy="11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0" i="0">
                <a:solidFill>
                  <a:srgbClr val="F7F8F8"/>
                </a:solidFill>
                <a:latin typeface="Segoe UI"/>
              </a:rPr>
              <a:t>1 · Project Overview</a:t>
            </a:r>
          </a:p>
        </p:txBody>
      </p:sp>
      <p:sp>
        <p:nvSpPr>
          <p:cNvPr id="5" name="Rounded Rectangle 4"/>
          <p:cNvSpPr/>
          <p:nvPr/>
        </p:nvSpPr>
        <p:spPr>
          <a:xfrm>
            <a:off x="3565800" y="2150000"/>
            <a:ext cx="2550000" cy="11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0" i="0">
                <a:solidFill>
                  <a:srgbClr val="F7F8F8"/>
                </a:solidFill>
                <a:latin typeface="Segoe UI"/>
              </a:rPr>
              <a:t>2 · Student Profile</a:t>
            </a:r>
          </a:p>
        </p:txBody>
      </p:sp>
      <p:sp>
        <p:nvSpPr>
          <p:cNvPr id="6" name="Rounded Rectangle 5"/>
          <p:cNvSpPr/>
          <p:nvPr/>
        </p:nvSpPr>
        <p:spPr>
          <a:xfrm>
            <a:off x="6445800" y="2150000"/>
            <a:ext cx="2550000" cy="11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0" i="0">
                <a:solidFill>
                  <a:srgbClr val="F7F8F8"/>
                </a:solidFill>
                <a:latin typeface="Segoe UI"/>
              </a:rPr>
              <a:t>3 · Concept Graph</a:t>
            </a:r>
          </a:p>
        </p:txBody>
      </p:sp>
      <p:sp>
        <p:nvSpPr>
          <p:cNvPr id="7" name="Rounded Rectangle 6"/>
          <p:cNvSpPr/>
          <p:nvPr/>
        </p:nvSpPr>
        <p:spPr>
          <a:xfrm>
            <a:off x="9325800" y="2150000"/>
            <a:ext cx="2550000" cy="1150000"/>
          </a:xfrm>
          <a:prstGeom prst="roundRect">
            <a:avLst/>
          </a:prstGeom>
          <a:solidFill>
            <a:srgbClr val="141516"/>
          </a:solidFill>
          <a:ln w="12700">
            <a:solidFill>
              <a:srgbClr val="5E6AD2"/>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1" i="0">
                <a:solidFill>
                  <a:srgbClr val="828FFF"/>
                </a:solidFill>
                <a:latin typeface="Segoe UI"/>
              </a:rPr>
              <a:t>4 · Recommendation</a:t>
            </a:r>
          </a:p>
        </p:txBody>
      </p:sp>
      <p:sp>
        <p:nvSpPr>
          <p:cNvPr id="8" name="Rounded Rectangle 7"/>
          <p:cNvSpPr/>
          <p:nvPr/>
        </p:nvSpPr>
        <p:spPr>
          <a:xfrm>
            <a:off x="685800" y="3600000"/>
            <a:ext cx="2550000" cy="11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0" i="0">
                <a:solidFill>
                  <a:srgbClr val="F7F8F8"/>
                </a:solidFill>
                <a:latin typeface="Segoe UI"/>
              </a:rPr>
              <a:t>5 · RL Policy</a:t>
            </a:r>
          </a:p>
        </p:txBody>
      </p:sp>
      <p:sp>
        <p:nvSpPr>
          <p:cNvPr id="9" name="Rounded Rectangle 8"/>
          <p:cNvSpPr/>
          <p:nvPr/>
        </p:nvSpPr>
        <p:spPr>
          <a:xfrm>
            <a:off x="3565800" y="3600000"/>
            <a:ext cx="2550000" cy="11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0" i="0">
                <a:solidFill>
                  <a:srgbClr val="F7F8F8"/>
                </a:solidFill>
                <a:latin typeface="Segoe UI"/>
              </a:rPr>
              <a:t>6 · Mastery Analytics</a:t>
            </a:r>
          </a:p>
        </p:txBody>
      </p:sp>
      <p:sp>
        <p:nvSpPr>
          <p:cNvPr id="10" name="Rounded Rectangle 9"/>
          <p:cNvSpPr/>
          <p:nvPr/>
        </p:nvSpPr>
        <p:spPr>
          <a:xfrm>
            <a:off x="6445800" y="3600000"/>
            <a:ext cx="2550000" cy="11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0" i="0">
                <a:solidFill>
                  <a:srgbClr val="F7F8F8"/>
                </a:solidFill>
                <a:latin typeface="Segoe UI"/>
              </a:rPr>
              <a:t>7 · MCDM Settings</a:t>
            </a:r>
          </a:p>
        </p:txBody>
      </p:sp>
      <p:sp>
        <p:nvSpPr>
          <p:cNvPr id="11" name="Rounded Rectangle 10"/>
          <p:cNvSpPr/>
          <p:nvPr/>
        </p:nvSpPr>
        <p:spPr>
          <a:xfrm>
            <a:off x="9325800" y="3600000"/>
            <a:ext cx="2550000" cy="115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0" i="0">
                <a:solidFill>
                  <a:srgbClr val="F7F8F8"/>
                </a:solidFill>
                <a:latin typeface="Segoe UI"/>
              </a:rPr>
              <a:t>8 · Performance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RESULTS &amp; METRICS</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Does it actually learn?  Yes.</a:t>
            </a:r>
          </a:p>
        </p:txBody>
      </p:sp>
      <p:sp>
        <p:nvSpPr>
          <p:cNvPr id="4" name="Rounded Rectangle 3"/>
          <p:cNvSpPr/>
          <p:nvPr/>
        </p:nvSpPr>
        <p:spPr>
          <a:xfrm>
            <a:off x="685800" y="2150000"/>
            <a:ext cx="3500000" cy="13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70000"/>
          <a:lstStyle/>
          <a:p>
            <a:pPr algn="ctr"/>
            <a:r>
              <a:rPr sz="1100" b="1" i="0" spc="30">
                <a:solidFill>
                  <a:srgbClr val="8A8F98"/>
                </a:solidFill>
                <a:latin typeface="Segoe UI"/>
              </a:rPr>
              <a:t>REWARD: EARLY → CONVERGED</a:t>
            </a:r>
          </a:p>
          <a:p>
            <a:pPr>
              <a:spcBef>
                <a:spcPts val="600"/>
              </a:spcBef>
            </a:pPr>
            <a:r>
              <a:rPr sz="3000" b="1" i="0" spc="-100">
                <a:solidFill>
                  <a:srgbClr val="F7F8F8"/>
                </a:solidFill>
                <a:latin typeface="Segoe UI"/>
              </a:rPr>
              <a:t>2.36 → 9.82</a:t>
            </a:r>
          </a:p>
        </p:txBody>
      </p:sp>
      <p:sp>
        <p:nvSpPr>
          <p:cNvPr id="5" name="Rounded Rectangle 4"/>
          <p:cNvSpPr/>
          <p:nvPr/>
        </p:nvSpPr>
        <p:spPr>
          <a:xfrm>
            <a:off x="4515800" y="2150000"/>
            <a:ext cx="3500000" cy="13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70000"/>
          <a:lstStyle/>
          <a:p>
            <a:pPr algn="ctr"/>
            <a:r>
              <a:rPr sz="1100" b="1" i="0" spc="30">
                <a:solidFill>
                  <a:srgbClr val="8A8F98"/>
                </a:solidFill>
                <a:latin typeface="Segoe UI"/>
              </a:rPr>
              <a:t>PATH COMPLETION RATE</a:t>
            </a:r>
          </a:p>
          <a:p>
            <a:pPr>
              <a:spcBef>
                <a:spcPts val="600"/>
              </a:spcBef>
            </a:pPr>
            <a:r>
              <a:rPr sz="3000" b="1" i="0" spc="-100">
                <a:solidFill>
                  <a:srgbClr val="F7F8F8"/>
                </a:solidFill>
                <a:latin typeface="Segoe UI"/>
              </a:rPr>
              <a:t>97.3%</a:t>
            </a:r>
          </a:p>
        </p:txBody>
      </p:sp>
      <p:sp>
        <p:nvSpPr>
          <p:cNvPr id="6" name="Rounded Rectangle 5"/>
          <p:cNvSpPr/>
          <p:nvPr/>
        </p:nvSpPr>
        <p:spPr>
          <a:xfrm>
            <a:off x="8345800" y="2150000"/>
            <a:ext cx="3500000" cy="13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70000"/>
          <a:lstStyle/>
          <a:p>
            <a:pPr algn="ctr"/>
            <a:r>
              <a:rPr sz="1100" b="1" i="0" spc="30">
                <a:solidFill>
                  <a:srgbClr val="8A8F98"/>
                </a:solidFill>
                <a:latin typeface="Segoe UI"/>
              </a:rPr>
              <a:t>POLICY STABILITY</a:t>
            </a:r>
          </a:p>
          <a:p>
            <a:pPr>
              <a:spcBef>
                <a:spcPts val="600"/>
              </a:spcBef>
            </a:pPr>
            <a:r>
              <a:rPr sz="3000" b="1" i="0" spc="-100">
                <a:solidFill>
                  <a:srgbClr val="F7F8F8"/>
                </a:solidFill>
                <a:latin typeface="Segoe UI"/>
              </a:rPr>
              <a:t>98.6%</a:t>
            </a:r>
          </a:p>
        </p:txBody>
      </p:sp>
      <p:sp>
        <p:nvSpPr>
          <p:cNvPr id="7" name="Rounded Rectangle 6"/>
          <p:cNvSpPr/>
          <p:nvPr/>
        </p:nvSpPr>
        <p:spPr>
          <a:xfrm>
            <a:off x="685800" y="3750000"/>
            <a:ext cx="3500000" cy="13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70000"/>
          <a:lstStyle/>
          <a:p>
            <a:pPr algn="ctr"/>
            <a:r>
              <a:rPr sz="1100" b="1" i="0" spc="30">
                <a:solidFill>
                  <a:srgbClr val="8A8F98"/>
                </a:solidFill>
                <a:latin typeface="Segoe UI"/>
              </a:rPr>
              <a:t>MASTERY RATE (≥ PROFICIENT)</a:t>
            </a:r>
          </a:p>
          <a:p>
            <a:pPr>
              <a:spcBef>
                <a:spcPts val="600"/>
              </a:spcBef>
            </a:pPr>
            <a:r>
              <a:rPr sz="3000" b="1" i="0" spc="-100">
                <a:solidFill>
                  <a:srgbClr val="F7F8F8"/>
                </a:solidFill>
                <a:latin typeface="Segoe UI"/>
              </a:rPr>
              <a:t>52%</a:t>
            </a:r>
          </a:p>
        </p:txBody>
      </p:sp>
      <p:sp>
        <p:nvSpPr>
          <p:cNvPr id="8" name="Rounded Rectangle 7"/>
          <p:cNvSpPr/>
          <p:nvPr/>
        </p:nvSpPr>
        <p:spPr>
          <a:xfrm>
            <a:off x="4515800" y="3750000"/>
            <a:ext cx="3500000" cy="13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70000"/>
          <a:lstStyle/>
          <a:p>
            <a:pPr algn="ctr"/>
            <a:r>
              <a:rPr sz="1100" b="1" i="0" spc="30">
                <a:solidFill>
                  <a:srgbClr val="8A8F98"/>
                </a:solidFill>
                <a:latin typeface="Segoe UI"/>
              </a:rPr>
              <a:t>RECO. ACCURACY (RL≡MCDM PROXY)</a:t>
            </a:r>
          </a:p>
          <a:p>
            <a:pPr>
              <a:spcBef>
                <a:spcPts val="600"/>
              </a:spcBef>
            </a:pPr>
            <a:r>
              <a:rPr sz="3000" b="1" i="0" spc="-100">
                <a:solidFill>
                  <a:srgbClr val="F7F8F8"/>
                </a:solidFill>
                <a:latin typeface="Segoe UI"/>
              </a:rPr>
              <a:t>48%</a:t>
            </a:r>
          </a:p>
        </p:txBody>
      </p:sp>
      <p:sp>
        <p:nvSpPr>
          <p:cNvPr id="9" name="Rounded Rectangle 8"/>
          <p:cNvSpPr/>
          <p:nvPr/>
        </p:nvSpPr>
        <p:spPr>
          <a:xfrm>
            <a:off x="8345800" y="3750000"/>
            <a:ext cx="3500000" cy="13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0" tIns="170000"/>
          <a:lstStyle/>
          <a:p>
            <a:pPr algn="ctr"/>
            <a:r>
              <a:rPr sz="1100" b="1" i="0" spc="30">
                <a:solidFill>
                  <a:srgbClr val="8A8F98"/>
                </a:solidFill>
                <a:latin typeface="Segoe UI"/>
              </a:rPr>
              <a:t>STATE SPACE</a:t>
            </a:r>
          </a:p>
          <a:p>
            <a:pPr>
              <a:spcBef>
                <a:spcPts val="600"/>
              </a:spcBef>
            </a:pPr>
            <a:r>
              <a:rPr sz="3000" b="1" i="0" spc="-100">
                <a:solidFill>
                  <a:srgbClr val="F7F8F8"/>
                </a:solidFill>
                <a:latin typeface="Segoe UI"/>
              </a:rPr>
              <a:t>288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10102"/>
        </a:solidFill>
        <a:effectLst/>
      </p:bgPr>
    </p:bg>
    <p:spTree>
      <p:nvGrpSpPr>
        <p:cNvPr id="1" name=""/>
        <p:cNvGrpSpPr/>
        <p:nvPr/>
      </p:nvGrpSpPr>
      <p:grpSpPr/>
      <p:sp>
        <p:nvSpPr>
          <p:cNvPr id="2" name="TextBox 1"/>
          <p:cNvSpPr txBox="1"/>
          <p:nvPr/>
        </p:nvSpPr>
        <p:spPr>
          <a:xfrm>
            <a:off x="685800" y="548640"/>
            <a:ext cx="9000000" cy="360000"/>
          </a:xfrm>
          <a:prstGeom prst="rect">
            <a:avLst/>
          </a:prstGeom>
          <a:noFill/>
        </p:spPr>
        <p:txBody>
          <a:bodyPr wrap="square" anchor="t">
            <a:spAutoFit/>
          </a:bodyPr>
          <a:lstStyle/>
          <a:p>
            <a:r>
              <a:rPr sz="1200" b="1" i="0" spc="40">
                <a:solidFill>
                  <a:srgbClr val="828FFF"/>
                </a:solidFill>
                <a:latin typeface="Segoe UI"/>
              </a:rPr>
              <a:t>CONCLUSION &amp; FUTURE SCOPE</a:t>
            </a:r>
          </a:p>
        </p:txBody>
      </p:sp>
      <p:sp>
        <p:nvSpPr>
          <p:cNvPr id="3" name="TextBox 2"/>
          <p:cNvSpPr txBox="1"/>
          <p:nvPr/>
        </p:nvSpPr>
        <p:spPr>
          <a:xfrm>
            <a:off x="685800" y="850000"/>
            <a:ext cx="10800000" cy="1100000"/>
          </a:xfrm>
          <a:prstGeom prst="rect">
            <a:avLst/>
          </a:prstGeom>
          <a:noFill/>
        </p:spPr>
        <p:txBody>
          <a:bodyPr wrap="square" anchor="t">
            <a:spAutoFit/>
          </a:bodyPr>
          <a:lstStyle/>
          <a:p>
            <a:r>
              <a:rPr sz="4000" b="1" i="0" spc="-100">
                <a:solidFill>
                  <a:srgbClr val="F7F8F8"/>
                </a:solidFill>
                <a:latin typeface="Segoe UI"/>
              </a:rPr>
              <a:t>Conclusion and what's next</a:t>
            </a:r>
          </a:p>
        </p:txBody>
      </p:sp>
      <p:sp>
        <p:nvSpPr>
          <p:cNvPr id="4" name="Rounded Rectangle 3"/>
          <p:cNvSpPr/>
          <p:nvPr/>
        </p:nvSpPr>
        <p:spPr>
          <a:xfrm>
            <a:off x="685800" y="2150000"/>
            <a:ext cx="5250000" cy="31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20000" tIns="200000"/>
          <a:lstStyle/>
          <a:p>
            <a:pPr algn="ctr"/>
            <a:r>
              <a:rPr sz="1700" b="1" i="0">
                <a:solidFill>
                  <a:srgbClr val="27A644"/>
                </a:solidFill>
                <a:latin typeface="Segoe UI"/>
              </a:rPr>
              <a:t>Delivered</a:t>
            </a:r>
          </a:p>
          <a:p>
            <a:pPr>
              <a:spcBef>
                <a:spcPts val="900"/>
              </a:spcBef>
            </a:pPr>
            <a:r>
              <a:rPr sz="1400" b="0" i="0">
                <a:solidFill>
                  <a:srgbClr val="27A644"/>
                </a:solidFill>
                <a:latin typeface="Segoe UI"/>
              </a:rPr>
              <a:t>•  </a:t>
            </a:r>
            <a:r>
              <a:rPr sz="1400" b="0" i="0">
                <a:solidFill>
                  <a:srgbClr val="D0D6E0"/>
                </a:solidFill>
                <a:latin typeface="Segoe UI"/>
              </a:rPr>
              <a:t>Reproducible, runnable end-to-end prototype.</a:t>
            </a:r>
          </a:p>
          <a:p>
            <a:pPr>
              <a:spcBef>
                <a:spcPts val="900"/>
              </a:spcBef>
            </a:pPr>
            <a:r>
              <a:rPr sz="1400" b="0" i="0">
                <a:solidFill>
                  <a:srgbClr val="27A644"/>
                </a:solidFill>
                <a:latin typeface="Segoe UI"/>
              </a:rPr>
              <a:t>•  </a:t>
            </a:r>
            <a:r>
              <a:rPr sz="1400" b="0" i="0">
                <a:solidFill>
                  <a:srgbClr val="D0D6E0"/>
                </a:solidFill>
                <a:latin typeface="Segoe UI"/>
              </a:rPr>
              <a:t>Exactly four RDMU techniques, cleanly separated.</a:t>
            </a:r>
          </a:p>
          <a:p>
            <a:pPr>
              <a:spcBef>
                <a:spcPts val="900"/>
              </a:spcBef>
            </a:pPr>
            <a:r>
              <a:rPr sz="1400" b="0" i="0">
                <a:solidFill>
                  <a:srgbClr val="27A644"/>
                </a:solidFill>
                <a:latin typeface="Segoe UI"/>
              </a:rPr>
              <a:t>•  </a:t>
            </a:r>
            <a:r>
              <a:rPr sz="1400" b="0" i="0">
                <a:solidFill>
                  <a:srgbClr val="D0D6E0"/>
                </a:solidFill>
                <a:latin typeface="Segoe UI"/>
              </a:rPr>
              <a:t>RL (what tends to work) + MCDM (human judgement), both visible.</a:t>
            </a:r>
          </a:p>
          <a:p>
            <a:pPr>
              <a:spcBef>
                <a:spcPts val="900"/>
              </a:spcBef>
            </a:pPr>
            <a:r>
              <a:rPr sz="1400" b="0" i="0">
                <a:solidFill>
                  <a:srgbClr val="27A644"/>
                </a:solidFill>
                <a:latin typeface="Segoe UI"/>
              </a:rPr>
              <a:t>•  </a:t>
            </a:r>
            <a:r>
              <a:rPr sz="1400" b="0" i="0">
                <a:solidFill>
                  <a:srgbClr val="D0D6E0"/>
                </a:solidFill>
                <a:latin typeface="Segoe UI"/>
              </a:rPr>
              <a:t>8-page dashboard with precise metrics.</a:t>
            </a:r>
          </a:p>
        </p:txBody>
      </p:sp>
      <p:sp>
        <p:nvSpPr>
          <p:cNvPr id="5" name="Rounded Rectangle 4"/>
          <p:cNvSpPr/>
          <p:nvPr/>
        </p:nvSpPr>
        <p:spPr>
          <a:xfrm>
            <a:off x="6250000" y="2150000"/>
            <a:ext cx="5250000" cy="3100000"/>
          </a:xfrm>
          <a:prstGeom prst="roundRect">
            <a:avLst/>
          </a:prstGeom>
          <a:solidFill>
            <a:srgbClr val="0F1011"/>
          </a:solidFill>
          <a:ln w="12700">
            <a:solidFill>
              <a:srgbClr val="23252A"/>
            </a:solidFill>
          </a:ln>
          <a:effectLst/>
        </p:spPr>
        <p:style>
          <a:lnRef idx="1">
            <a:schemeClr val="accent1"/>
          </a:lnRef>
          <a:fillRef idx="3">
            <a:schemeClr val="accent1"/>
          </a:fillRef>
          <a:effectRef idx="2">
            <a:schemeClr val="accent1"/>
          </a:effectRef>
          <a:fontRef idx="minor">
            <a:schemeClr val="lt1"/>
          </a:fontRef>
        </p:style>
        <p:txBody>
          <a:bodyPr rtlCol="0" anchor="ctr" wrap="square" lIns="220000" tIns="200000"/>
          <a:lstStyle/>
          <a:p>
            <a:pPr algn="ctr"/>
            <a:r>
              <a:rPr sz="1700" b="1" i="0">
                <a:solidFill>
                  <a:srgbClr val="828FFF"/>
                </a:solidFill>
                <a:latin typeface="Segoe UI"/>
              </a:rPr>
              <a:t>Future scope</a:t>
            </a:r>
          </a:p>
          <a:p>
            <a:pPr>
              <a:spcBef>
                <a:spcPts val="900"/>
              </a:spcBef>
            </a:pPr>
            <a:r>
              <a:rPr sz="1400" b="0" i="0">
                <a:solidFill>
                  <a:srgbClr val="5E6AD2"/>
                </a:solidFill>
                <a:latin typeface="Segoe UI"/>
              </a:rPr>
              <a:t>•  </a:t>
            </a:r>
            <a:r>
              <a:rPr sz="1400" b="0" i="0">
                <a:solidFill>
                  <a:srgbClr val="D0D6E0"/>
                </a:solidFill>
                <a:latin typeface="Segoe UI"/>
              </a:rPr>
              <a:t>Function approximation (Deep RL) to scale beyond discrete bands.</a:t>
            </a:r>
          </a:p>
          <a:p>
            <a:pPr>
              <a:spcBef>
                <a:spcPts val="900"/>
              </a:spcBef>
            </a:pPr>
            <a:r>
              <a:rPr sz="1400" b="0" i="0">
                <a:solidFill>
                  <a:srgbClr val="5E6AD2"/>
                </a:solidFill>
                <a:latin typeface="Segoe UI"/>
              </a:rPr>
              <a:t>•  </a:t>
            </a:r>
            <a:r>
              <a:rPr sz="1400" b="0" i="0">
                <a:solidFill>
                  <a:srgbClr val="D0D6E0"/>
                </a:solidFill>
                <a:latin typeface="Segoe UI"/>
              </a:rPr>
              <a:t>Calibrate on real learner telemetry instead of synthetic data.</a:t>
            </a:r>
          </a:p>
          <a:p>
            <a:pPr>
              <a:spcBef>
                <a:spcPts val="900"/>
              </a:spcBef>
            </a:pPr>
            <a:r>
              <a:rPr sz="1400" b="0" i="0">
                <a:solidFill>
                  <a:srgbClr val="5E6AD2"/>
                </a:solidFill>
                <a:latin typeface="Segoe UI"/>
              </a:rPr>
              <a:t>•  </a:t>
            </a:r>
            <a:r>
              <a:rPr sz="1400" b="0" i="0">
                <a:solidFill>
                  <a:srgbClr val="D0D6E0"/>
                </a:solidFill>
                <a:latin typeface="Segoe UI"/>
              </a:rPr>
              <a:t>A/B evaluation against a fixed-curriculum baseline.</a:t>
            </a:r>
          </a:p>
          <a:p>
            <a:pPr>
              <a:spcBef>
                <a:spcPts val="900"/>
              </a:spcBef>
            </a:pPr>
            <a:r>
              <a:rPr sz="1400" b="0" i="0">
                <a:solidFill>
                  <a:srgbClr val="5E6AD2"/>
                </a:solidFill>
                <a:latin typeface="Segoe UI"/>
              </a:rPr>
              <a:t>•  </a:t>
            </a:r>
            <a:r>
              <a:rPr sz="1400" b="0" i="0">
                <a:solidFill>
                  <a:srgbClr val="D0D6E0"/>
                </a:solidFill>
                <a:latin typeface="Segoe UI"/>
              </a:rPr>
              <a:t>Richer MCDM criteria (spaced repetition, cohort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